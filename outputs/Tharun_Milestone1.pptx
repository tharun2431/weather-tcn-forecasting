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MSc Data Science  |  Deep Learning Applications  |  CMP-L016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Hybrid Deep Learning Models for</a:t>
            </a:r>
            <a:br/>
            <a:r>
              <a:t>Weather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Calibri"/>
              </a:defRPr>
            </a:pPr>
            <a:r>
              <a:t>Project #28 — TCN, Hybrid &amp; Ensemble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45720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Tharun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Milestone 1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114800"/>
            <a:ext cx="3840480" cy="2286000"/>
          </a:xfrm>
          <a:prstGeom prst="roundRect">
            <a:avLst/>
          </a:prstGeom>
          <a:solidFill>
            <a:srgbClr val="101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📊 Jena Climate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760,000+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120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14 meteorological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7 years (2009–2022)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10-minute recording interval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Background &amp; 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Why weather prediction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Defining our deep learning challenge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Proposed Solution: Hybrid 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TCN-LSTM hybrid + Stacking Ensemble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3464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 Architecture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4 models: 2 base + 1 hybrid + 1 ensemble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Dataset: Jena Climate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Data selection and characteristics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2336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60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Methodology &amp;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21208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15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What we aim to demonstrate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212080"/>
            <a:ext cx="50292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715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Supporting literature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Why Weather Prediction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Weather affects agriculture, energy, transport,</a:t>
            </a:r>
            <a:br/>
            <a:r>
              <a:t>    and disaster management globally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Accurate short-term forecasting saves lives</a:t>
            </a:r>
            <a:br/>
            <a:r>
              <a:t>    and billions in economic value annually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Climate change increases weather volatility,</a:t>
            </a:r>
            <a:br/>
            <a:r>
              <a:t>    making prediction more critical than ever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Traditional Numerical Weather Prediction (NWP)</a:t>
            </a:r>
            <a:br/>
            <a:r>
              <a:t>    requires massive computational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The Deep Learning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Deep learning models learn directly from</a:t>
            </a:r>
            <a:br/>
            <a:r>
              <a:t>    historical observation data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No need for complex physics simulations</a:t>
            </a:r>
            <a:br/>
            <a:r>
              <a:t>    — purely data-driven approach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Real-time inference: predictions in milliseconds</a:t>
            </a:r>
            <a:br/>
            <a:r>
              <a:t>    vs hours for NWP models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t>▸  Can capture non-linear relationships between</a:t>
            </a:r>
            <a:br/>
            <a:r>
              <a:t>    atmospheric variables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D4"/>
                </a:solidFill>
                <a:latin typeface="Calibri"/>
              </a:defRPr>
            </a:pPr>
            <a:r>
              <a:t>"Deep learning is transforming weather forecasting from physics simulations to data-driven predictions"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Can hybrid and ensemble deep learning architectures outperform standalone models</a:t>
            </a:r>
            <a:br/>
            <a:r>
              <a:t>for multivariate weather time-series forecasting?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4747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4048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7 days (168 hours) of</a:t>
            </a:r>
            <a:br/>
            <a:r>
              <a:t>14 atmospheric variables</a:t>
            </a:r>
            <a:br/>
            <a:r>
              <a:t>recorded hourly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200400"/>
            <a:ext cx="34747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384048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Temperature prediction</a:t>
            </a:r>
            <a:br/>
            <a:r>
              <a:t>1–24 hours into the future</a:t>
            </a:r>
            <a:br/>
            <a:r>
              <a:t>in degrees Celsius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00400"/>
            <a:ext cx="34747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8404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Prove hybrid TCN-LSTM</a:t>
            </a:r>
            <a:br/>
            <a:r>
              <a:t>vs LSTM and TCN baselines</a:t>
            </a:r>
            <a:br/>
            <a:r>
              <a:t>via ensemble combination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0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Why Deep Learning?  Weather data is sequential, multivariate, and non-linear — ideal for deep sequence models. TCNs offer parallelisable training with large receptive fields, overcoming RNN limitations.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 — Hybrid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Temporal Convolutional Network (TCN)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1D Causal Convolutions</a:t>
            </a:r>
            <a:br/>
            <a:r>
              <a:t>    Ensures no information leakage from future time steps</a:t>
            </a:r>
          </a:p>
          <a:p>
            <a:pPr>
              <a:spcAft>
                <a:spcPts val="8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Dilated Convolutions (d = 1, 2, 4, 8, 16)</a:t>
            </a:r>
            <a:br/>
            <a:r>
              <a:t>    Exponentially growing receptive field without</a:t>
            </a:r>
            <a:br/>
            <a:r>
              <a:t>    increasing parameters — covers 125+ hours</a:t>
            </a:r>
          </a:p>
          <a:p>
            <a:pPr>
              <a:spcAft>
                <a:spcPts val="8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Residual Connections</a:t>
            </a:r>
            <a:br/>
            <a:r>
              <a:t>    Stable gradient flow through deep networks,</a:t>
            </a:r>
            <a:br/>
            <a:r>
              <a:t>    enables training of 5+ layer architectures</a:t>
            </a:r>
          </a:p>
          <a:p>
            <a:pPr>
              <a:spcAft>
                <a:spcPts val="800"/>
              </a:spcAft>
              <a:defRPr sz="1300">
                <a:solidFill>
                  <a:srgbClr val="B0BCD4"/>
                </a:solidFill>
                <a:latin typeface="Calibri"/>
              </a:defRPr>
            </a:pPr>
            <a:r>
              <a:t>▸  Weight Normalisation + BatchNorm</a:t>
            </a:r>
            <a:br/>
            <a:r>
              <a:t>    Faster convergence and training stability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429768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Architecture 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 residual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13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64 per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 (causal)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25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Dilations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1, 2, 4, 8, 16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Receptive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81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125 hours (5.2 days)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~85K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840480"/>
            <a:ext cx="4297680" cy="2377440"/>
          </a:xfrm>
          <a:prstGeom prst="roundRect">
            <a:avLst/>
          </a:prstGeom>
          <a:solidFill>
            <a:srgbClr val="1A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★ Unique Aspects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4805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✦  Parallelisable — unlike sequential</a:t>
            </a:r>
            <a:br/>
            <a:r>
              <a:t>    LSTM/GRU processing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✦  No vanishing gradient problem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✦  TCN-LSTM hybrid combines local feature</a:t>
            </a:r>
            <a:br/>
            <a:r>
              <a:t>    extraction with sequential memory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✦  Stacking ensemble: meta-learner</a:t>
            </a:r>
            <a:br/>
            <a:r>
              <a:t>    optimally combines all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4-Model Comparison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Recurrent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423160"/>
            <a:ext cx="32004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2-layer LSTM (128 units) → Dense(64) → 1</a:t>
            </a:r>
            <a:br/>
            <a:r>
              <a:t>Gated memory for long-range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Calibri"/>
              </a:defRPr>
            </a:pPr>
            <a:r>
              <a:t>~200K params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TCN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Convolutional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23160"/>
            <a:ext cx="3200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5 residual blocks, dilated causal conv</a:t>
            </a:r>
            <a:br/>
            <a:r>
              <a:t>Parallelisable, 125h receptive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~85K params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TCN-LSTM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★ Hybrid (Key Innovation)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98348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TCN encoder → LSTM decoder</a:t>
            </a:r>
            <a:br/>
            <a:r>
              <a:t>Local features + sequential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~120K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Calibri"/>
              </a:defRPr>
            </a:pPr>
            <a:r>
              <a:t>★ Stacking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983480"/>
            <a:ext cx="32004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Ridge meta-learner on all model</a:t>
            </a:r>
            <a:br/>
            <a:r>
              <a:t>predictions — optimal combination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Meta-learner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Dataset: Jena Climate 2009–2022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Max Planck Institute for Biogeochemistry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Jena,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January 2009 – December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Raw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420,551 (every 10 minutes)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Resampled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~70,000 (hourly)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 meteorological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74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 (degC) — Temperature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14 Meteorological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Temperature (°C), Potential temp (K), Dew point (°C)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Atmospheric pressure (mbar)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Relative humidity (%)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Vapour pressure: max, actual, deficit (mbar)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Specific humidity (g/kg), H₂O concentration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Air density (g/m³)</a:t>
            </a:r>
          </a:p>
          <a:p>
            <a:pPr>
              <a:spcAft>
                <a:spcPts val="800"/>
              </a:spcAft>
              <a:defRPr sz="1100">
                <a:solidFill>
                  <a:srgbClr val="B0BCD4"/>
                </a:solidFill>
                <a:latin typeface="Calibri"/>
              </a:defRPr>
            </a:pPr>
            <a:r>
              <a:t>▸  Wind speed, max wind speed (m/s), direction (°)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50292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Why This Dataset?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Publicly available and well-documented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Used in TensorFlow's official time-series tutorial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Rich multivariate structure (14 inter-related features)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Strong seasonal &amp; diurnal patterns — ideal for</a:t>
            </a:r>
            <a:br/>
            <a:r>
              <a:t>    demonstrating sequence model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7 years provides sufficient data for robust</a:t>
            </a:r>
            <a:br/>
            <a:r>
              <a:t>    train/validation/test splitting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23360"/>
            <a:ext cx="5029200" cy="256032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363"/>
                </a:solidFill>
                <a:latin typeface="Calibri"/>
              </a:defRPr>
            </a:pPr>
            <a:r>
              <a:t>Data Challenges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63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Erroneous values: negative wind speeds require</a:t>
            </a:r>
            <a:br/>
            <a:r>
              <a:t>    cleaning (set to 0)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High volume: 420K rows needs resampling to</a:t>
            </a:r>
            <a:br/>
            <a:r>
              <a:t>    hourly for computational feasibility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Non-stationarity: seasonal trends must be</a:t>
            </a:r>
            <a:br/>
            <a:r>
              <a:t>    handled through normalisation</a:t>
            </a:r>
          </a:p>
          <a:p>
            <a:pPr>
              <a:spcAft>
                <a:spcPts val="800"/>
              </a:spcAft>
              <a:defRPr sz="1200">
                <a:solidFill>
                  <a:srgbClr val="B0BCD4"/>
                </a:solidFill>
                <a:latin typeface="Calibri"/>
              </a:defRPr>
            </a:pPr>
            <a:r>
              <a:t>▸  Temporal ordering: must use chronological</a:t>
            </a:r>
            <a:br/>
            <a:r>
              <a:t>    splitting (no shuffling) to prevent data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 &amp; Training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834640"/>
            <a:ext cx="11887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Clean, resample</a:t>
            </a:r>
            <a:br/>
            <a:r>
              <a:t>to hourly, fix</a:t>
            </a:r>
            <a:br/>
            <a:r>
              <a:t>erroneous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834640"/>
            <a:ext cx="1188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StandardScaler</a:t>
            </a:r>
            <a:br/>
            <a:r>
              <a:t>(train-only fit),</a:t>
            </a:r>
            <a:br/>
            <a:r>
              <a:t>14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Window</a:t>
            </a:r>
            <a:br/>
            <a:r>
              <a:t>Creation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834640"/>
            <a:ext cx="1188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168h sliding window</a:t>
            </a:r>
            <a:br/>
            <a:r>
              <a:t>→ 1h prediction</a:t>
            </a:r>
            <a:br/>
            <a:r>
              <a:t>(DataLoaders)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74C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834640"/>
            <a:ext cx="11887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4 architectures:</a:t>
            </a:r>
            <a:br/>
            <a:r>
              <a:t>2 base + 1 hybrid</a:t>
            </a:r>
            <a:br/>
            <a:r>
              <a:t>+ 1 ensemble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HP Tuning</a:t>
            </a:r>
            <a:br/>
            <a:r>
              <a:t>&amp; Ablation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834640"/>
            <a:ext cx="1188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27-config grid</a:t>
            </a:r>
            <a:br/>
            <a:r>
              <a:t>for TCN, depth</a:t>
            </a:r>
            <a:br/>
            <a:r>
              <a:t>ablation study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645920"/>
            <a:ext cx="17373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17373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148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  <a:br/>
            <a:r>
              <a:t>&amp;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95560" y="2834640"/>
            <a:ext cx="1188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30175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Calibri"/>
              </a:defRPr>
            </a:pPr>
            <a:r>
              <a:t>Metrics, residuals</a:t>
            </a:r>
            <a:br/>
            <a:r>
              <a:t>multi-step forecast</a:t>
            </a:r>
            <a:br/>
            <a:r>
              <a:t>comparison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Chronological Data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Train (70%)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2009–2014  •  ~49K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Validation (15%)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2014–2015  •  ~10.5K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Test (15%)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2015–2016  •  ~10.5K hours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Quantitative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MAE, RMSE, R², MAPE — all models</a:t>
            </a:r>
            <a:br/>
            <a:r>
              <a:t>evaluated on identical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Training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10312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Learning curves, convergence rates,</a:t>
            </a:r>
            <a:br/>
            <a:r>
              <a:t>training time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10312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Impact of TCN depth (2–5 blocks)</a:t>
            </a:r>
            <a:br/>
            <a:r>
              <a:t>on accuracy and receptive 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Multi-step Forecasting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66344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24h autoregressive prediction,</a:t>
            </a:r>
            <a:br/>
            <a:r>
              <a:t>error accumulation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Residual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79" y="4663440"/>
            <a:ext cx="22860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Error distributions, seasonal and</a:t>
            </a:r>
            <a:br/>
            <a:r>
              <a:t>diurnal error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Live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6634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Web application for real-time</a:t>
            </a:r>
            <a:br/>
            <a:r>
              <a:t>weather prediction using</a:t>
            </a:r>
            <a:br/>
            <a:r>
              <a:t>hybrid ensemble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058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[1]  S. Bai, J.Z. Kolter, V. Koltun, "An Empirical Evaluation of Generic Convolutional and</a:t>
            </a:r>
            <a:br/>
            <a:r>
              <a:t>      Recurrent Networks for Sequence Modeling," arXiv:1803.01271, 2018.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[2]  S. Hochreiter and J. Schmidhuber, "Long Short-Term Memory," Neural Computation,</a:t>
            </a:r>
            <a:br/>
            <a:r>
              <a:t>      vol. 9, no. 8, pp. 1735–1780, 1997.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71215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[3]  K. Cho et al., "Learning Phrase Representations using RNN Encoder-Decoder for Statistical</a:t>
            </a:r>
            <a:br/>
            <a:r>
              <a:t>      Machine Translation," arXiv:1406.1078, 2014.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[4]  K. He, X. Zhang, S. Ren, and J. Sun, "Deep Residual Learning for Image Recognition,"</a:t>
            </a:r>
            <a:br/>
            <a:r>
              <a:t>      Proc. CVPR, pp. 770–778, 2016.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879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[5]  A. van den Oord et al., "WaveNet: A Generative Model for Raw Audio,"</a:t>
            </a:r>
            <a:br/>
            <a:r>
              <a:t>      arXiv:1609.03499, 2016.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[6]  A. Paszke et al., "PyTorch: An Imperative Style, High-Performance Deep Learning Library,"</a:t>
            </a:r>
            <a:br/>
            <a:r>
              <a:t>      NeurIPS,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0468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Calibri"/>
              </a:defRPr>
            </a:pPr>
            <a:r>
              <a:t>[7]  Max Planck Institute for Biogeochemistry, "Jena Climate Dataset 2009–2022,"</a:t>
            </a:r>
            <a:br/>
            <a:r>
              <a:t>      Available: https://www.bgc-jena.mpg.de/wetter/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All references follow IEEE citation format as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4389120"/>
            <a:ext cx="5760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029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MSc Data Science — Deep Learning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394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Project #28 — Weather Prediction with Hybrid 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